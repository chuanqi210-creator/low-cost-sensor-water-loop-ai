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78299c5a2f4198" /><Relationship Type="http://schemas.openxmlformats.org/officeDocument/2006/relationships/extended-properties" Target="/docProps/app.xml" Id="R2496af4792cc4570" /><Relationship Type="http://schemas.openxmlformats.org/officeDocument/2006/relationships/officeDocument" Target="/ppt/presentation.xml" Id="Rdbd6ef4af91440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fe96c0b7241ef"/>
  </p:sldMasterIdLst>
  <p:notesMasterIdLst>
    <p:notesMasterId xmlns:r="http://schemas.openxmlformats.org/officeDocument/2006/relationships" r:id="R125ea494a1774796"/>
  </p:notesMasterIdLst>
  <p:sldIdLst>
    <p:sldId xmlns:r="http://schemas.openxmlformats.org/officeDocument/2006/relationships" id="256" r:id="R53b072102aaf4acb"/>
    <p:sldId xmlns:r="http://schemas.openxmlformats.org/officeDocument/2006/relationships" id="257" r:id="R9c5f07f3406b43b9"/>
    <p:sldId xmlns:r="http://schemas.openxmlformats.org/officeDocument/2006/relationships" id="258" r:id="Rc381d2eab6e14db3"/>
    <p:sldId xmlns:r="http://schemas.openxmlformats.org/officeDocument/2006/relationships" id="259" r:id="R16a02cc8614842a6"/>
    <p:sldId xmlns:r="http://schemas.openxmlformats.org/officeDocument/2006/relationships" id="260" r:id="Ra4201dcc9bfa4f8b"/>
    <p:sldId xmlns:r="http://schemas.openxmlformats.org/officeDocument/2006/relationships" id="261" r:id="R8eb94e38f1534d95"/>
    <p:sldId xmlns:r="http://schemas.openxmlformats.org/officeDocument/2006/relationships" id="262" r:id="Rf56ef4bc170b4785"/>
    <p:sldId xmlns:r="http://schemas.openxmlformats.org/officeDocument/2006/relationships" id="263" r:id="R95b6a8ed41d742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fe96c0b7241ef" /><Relationship Type="http://schemas.openxmlformats.org/officeDocument/2006/relationships/theme" Target="/ppt/theme/theme1.xml" Id="R5b117faa785e4afd" /><Relationship Type="http://schemas.openxmlformats.org/officeDocument/2006/relationships/notesMaster" Target="/ppt/notesMasters/notesMaster1.xml" Id="R125ea494a1774796" /><Relationship Type="http://schemas.openxmlformats.org/officeDocument/2006/relationships/presProps" Target="/ppt/presProps.xml" Id="R8d15bb4efc4d4a5d" /><Relationship Type="http://schemas.openxmlformats.org/officeDocument/2006/relationships/viewProps" Target="/ppt/viewProps.xml" Id="Re74e128374e44718" /><Relationship Type="http://schemas.openxmlformats.org/officeDocument/2006/relationships/tableStyles" Target="/ppt/tableStyles.xml" Id="Rf503653c550441ff" /><Relationship Type="http://schemas.openxmlformats.org/officeDocument/2006/relationships/slide" Target="/ppt/slides/slide1.xml" Id="R53b072102aaf4acb" /><Relationship Type="http://schemas.openxmlformats.org/officeDocument/2006/relationships/slide" Target="/ppt/slides/slide2.xml" Id="R9c5f07f3406b43b9" /><Relationship Type="http://schemas.openxmlformats.org/officeDocument/2006/relationships/slide" Target="/ppt/slides/slide3.xml" Id="Rc381d2eab6e14db3" /><Relationship Type="http://schemas.openxmlformats.org/officeDocument/2006/relationships/slide" Target="/ppt/slides/slide4.xml" Id="R16a02cc8614842a6" /><Relationship Type="http://schemas.openxmlformats.org/officeDocument/2006/relationships/slide" Target="/ppt/slides/slide5.xml" Id="Ra4201dcc9bfa4f8b" /><Relationship Type="http://schemas.openxmlformats.org/officeDocument/2006/relationships/slide" Target="/ppt/slides/slide6.xml" Id="R8eb94e38f1534d95" /><Relationship Type="http://schemas.openxmlformats.org/officeDocument/2006/relationships/slide" Target="/ppt/slides/slide7.xml" Id="Rf56ef4bc170b4785" /><Relationship Type="http://schemas.openxmlformats.org/officeDocument/2006/relationships/slide" Target="/ppt/slides/slide8.xml" Id="R95b6a8ed41d7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e34b3da2d5b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bf30040274c1f" /><Relationship Type="http://schemas.openxmlformats.org/officeDocument/2006/relationships/notesMaster" Target="/ppt/notesMasters/notesMaster1.xml" Id="R37533b46366f40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7a01176b0c42ff" /><Relationship Type="http://schemas.openxmlformats.org/officeDocument/2006/relationships/notesMaster" Target="/ppt/notesMasters/notesMaster1.xml" Id="R10157afa1ff146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7f1d16adb4391" /><Relationship Type="http://schemas.openxmlformats.org/officeDocument/2006/relationships/notesMaster" Target="/ppt/notesMasters/notesMaster1.xml" Id="Ra211f47c1387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b248077714c08" /><Relationship Type="http://schemas.openxmlformats.org/officeDocument/2006/relationships/notesMaster" Target="/ppt/notesMasters/notesMaster1.xml" Id="R7d391a7b429e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51b7b5fc7c4c95" /><Relationship Type="http://schemas.openxmlformats.org/officeDocument/2006/relationships/notesMaster" Target="/ppt/notesMasters/notesMaster1.xml" Id="Ra85354278baa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361dd5f8394993" /><Relationship Type="http://schemas.openxmlformats.org/officeDocument/2006/relationships/notesMaster" Target="/ppt/notesMasters/notesMaster1.xml" Id="R21484d38ed38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e8886067e4ef1" /><Relationship Type="http://schemas.openxmlformats.org/officeDocument/2006/relationships/notesMaster" Target="/ppt/notesMasters/notesMaster1.xml" Id="R34b438b9281741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3aba50b50d440c" /><Relationship Type="http://schemas.openxmlformats.org/officeDocument/2006/relationships/notesMaster" Target="/ppt/notesMasters/notesMaster1.xml" Id="R1c72b200c82e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58541b0cc45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e7a2a12b5b14622" /><Relationship Type="http://schemas.openxmlformats.org/officeDocument/2006/relationships/slideLayout" Target="/ppt/slideLayouts/slideLayout2.xml" Id="Ra3843685396940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843685396940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ec3392081a44d8" /><Relationship Type="http://schemas.openxmlformats.org/officeDocument/2006/relationships/notesSlide" Target="/ppt/notesSlides/notesSlide1.xml" Id="Rf0fd8ec0c590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b4397a17e46d8" /><Relationship Type="http://schemas.openxmlformats.org/officeDocument/2006/relationships/notesSlide" Target="/ppt/notesSlides/notesSlide2.xml" Id="R5954a49859574c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d035fbf2804610" /><Relationship Type="http://schemas.openxmlformats.org/officeDocument/2006/relationships/notesSlide" Target="/ppt/notesSlides/notesSlide3.xml" Id="R7ebaa1d8d57542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95d0c1e9e84fe0" /><Relationship Type="http://schemas.openxmlformats.org/officeDocument/2006/relationships/notesSlide" Target="/ppt/notesSlides/notesSlide4.xml" Id="R09dd4cf3cf894a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4fa0e191e044cf" /><Relationship Type="http://schemas.openxmlformats.org/officeDocument/2006/relationships/notesSlide" Target="/ppt/notesSlides/notesSlide5.xml" Id="R83ea7cb854734e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50c5e7fc7049ae" /><Relationship Type="http://schemas.openxmlformats.org/officeDocument/2006/relationships/notesSlide" Target="/ppt/notesSlides/notesSlide6.xml" Id="R207a0cd3446942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2273b0bdf44aa" /><Relationship Type="http://schemas.openxmlformats.org/officeDocument/2006/relationships/notesSlide" Target="/ppt/notesSlides/notesSlide7.xml" Id="Rb6f9f87ca02a44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a1f9a812404fd3" /><Relationship Type="http://schemas.openxmlformats.org/officeDocument/2006/relationships/notesSlide" Target="/ppt/notesSlides/notesSlide8.xml" Id="Raf1ea23cc26c49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51C85-D8BB-43F9-A6BD-702BA9C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88F07-EAEF-4346-AE4F-A2334670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BEF4A-1329-41C7-8877-DE90397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研究命题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776AB-8245-48F8-9A55-AA0F921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低成本传感条件下，把水处理黑箱变成灰箱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48AFC-7B2D-4588-8CAA-882C4683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核心不是把昂贵仪器直接替换掉，而是让系统结构为推断、验证和行动争取时间。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7E7A6-DC90-44CE-A5FA-C8E020C0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1481328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F476D-C7AC-43B3-9982-ABD2839C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11680"/>
            <a:ext cx="1243584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3FFF0-D5BC-44A8-A47A-1152C15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331720"/>
            <a:ext cx="124358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低成本端点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17AF7-213E-44AD-97CA-AF37C69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920240"/>
            <a:ext cx="1481328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0E7F3-47EA-418E-AED8-CCB6AA04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011680"/>
            <a:ext cx="1243584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64881-13F9-4938-9CC9-BAEE2025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331720"/>
            <a:ext cx="124358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中间黑箱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B96A0-AC09-4D5A-BF48-8D0A9CC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920240"/>
            <a:ext cx="1481328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6C663-951C-4F01-BEDA-CC8324B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011680"/>
            <a:ext cx="1243584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循环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A12C6-F895-4273-8AA4-7E9B3A2B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331720"/>
            <a:ext cx="124358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争取时间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00895-D42F-4632-8735-17EC8583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920240"/>
            <a:ext cx="1481328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B9574-FEC8-47EE-9BBF-A79DAA7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2011680"/>
            <a:ext cx="1243584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灰箱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4291A-F4DE-4061-9019-50BE729B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2331720"/>
            <a:ext cx="124358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可解释可回退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0518A-81FB-43D0-882D-0B168E71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148840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8DCA4-6BF1-4A00-A0FB-C1CF8416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8840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1C5E9-B48E-43CD-97CF-4508CC24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4B1CE-9584-4284-8464-278807FB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333756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85B56-F1B0-447C-AD76-73CF72A9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64008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B5EAA-B68C-4B91-81FF-094F459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72968"/>
            <a:ext cx="304495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进水/出水可测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DF70D-F8AD-41A4-831C-1102238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74720"/>
            <a:ext cx="304495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低成本传感只提供端点证据，无法直接看见反应中间态。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2153A-6C6D-448B-BCE7-4CBB4BD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063240"/>
            <a:ext cx="333756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8CAEA-FC10-46CF-93B8-C239A90B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063240"/>
            <a:ext cx="64008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87A69-5765-4D61-9071-DC9D6E43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172968"/>
            <a:ext cx="304495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循环窗口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E5A93-1E06-4903-A007-062169F6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474720"/>
            <a:ext cx="304495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通过回流、暂存、延长停留和慢证据等待，让软传感器有时间估计隐藏状态。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0EC78-9C52-4B5C-871B-96B4F829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063240"/>
            <a:ext cx="333756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F3820-265B-4DD6-B6AB-851C2CD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063240"/>
            <a:ext cx="64008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45C82-9AB6-447F-BB4A-18DD7A1C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3172968"/>
            <a:ext cx="304495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多智能体闭环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882699-A740-4CA9-B97B-2E0BEFB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3474720"/>
            <a:ext cx="304495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机理解释、故障诊断、成本安全和控制仲裁共同决定下一步动作。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B792A-23B5-4B5B-BF8B-D13DBB49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115568"/>
            <a:ext cx="3566160" cy="1335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657D1D-F578-4413-80F5-A87B7CB5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353312"/>
            <a:ext cx="3063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从“看不见”转为“可推断、可干预、可回退”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2CD64-50B4-4337-9B70-39AA758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477312-6AF3-4BCE-AE7B-28613E50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3BE974-E76A-45C0-B212-4B08C24A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77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3E9D2-87E6-435A-8384-96A01DEF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A61B2-BF31-40E2-81CE-2BB427AD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B1E78-B05E-4550-BF42-64F062B9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D8730-5084-4D3C-A34C-0AF7815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循环结构 + 软传感器 + 多智能体闭环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77266-65D4-41CD-B4E1-9DC43C64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循环不是补丁，而是降低传感速度和反应速度要求的工程结构。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B144D-36EE-45EF-9BCB-A7ED351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B05D9-74DA-494C-A9E6-7533CB3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24B7-E0E4-484D-9ADC-7BE97CE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29968"/>
            <a:ext cx="13075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低成本传感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D90E0-510A-4CE9-AC61-38036895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31720"/>
            <a:ext cx="1307592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pH / ORP / EC / 浊度 / UV254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6DD04-3E45-4496-9DD3-880EB443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2267712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79B92-0495-46BB-A6DE-495F154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92024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77728-1B0B-472B-88BF-4C3A74CA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920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F81DC-4808-42C1-A05B-648327CB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029968"/>
            <a:ext cx="13075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数据质控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8DC9C-D2BE-4A2B-ACBE-3348553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31720"/>
            <a:ext cx="1307592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缺失、漂移、卡死、低流量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E6CB8-AACF-45DE-8CF8-F7784B70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267712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37AF7-9239-478E-9FFB-6D7A5174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18832-1807-4321-958A-0D891B68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BEFB2-D91D-47DC-86F1-4ABE2645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029968"/>
            <a:ext cx="13075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软传感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FA5C9-FBA4-4543-9EB3-4F335FD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331720"/>
            <a:ext cx="1307592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隐藏状态 / 副产物风险 / 水力置信度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7DE86-113D-42F5-9146-B3AAE57A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267712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B2F4A-A25C-49DB-85F4-D0BEBD3E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2024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73C6B-DE2A-4E04-9744-3CACFBE3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20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5FE65-C2B3-441A-BEF2-4B86FF5C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029968"/>
            <a:ext cx="13075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机理诊断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60B76-47C4-4B35-9513-9CA4EAF3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331720"/>
            <a:ext cx="1307592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氧化剂不足 / 催化失活 / 基质冲击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CE64D-4C25-42CB-B84D-63CBB6D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267712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CCC79-11DC-4E0C-9BD8-52D64A68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2024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E9A5B-B858-4577-AD8F-AE5DF472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20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61AA0-1FAF-4DE4-BFE1-D6743A67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029968"/>
            <a:ext cx="13075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控制仲裁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D36B8-C2BB-437C-B171-1F0D07BB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331720"/>
            <a:ext cx="1307592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回流 / 暂存 / 加药 / 放行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69C41-3AF3-4D8B-9539-A4095B74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77640"/>
            <a:ext cx="7863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010C0-1EBB-432C-9F77-BAA3963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77640"/>
            <a:ext cx="6400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A40187-3F64-45A3-AECD-7165B8C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087368"/>
            <a:ext cx="75712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行动循环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C80610-ABD2-4607-AA44-F794AF82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389120"/>
            <a:ext cx="7571232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若证据不足或风险升高，系统动态选择回流、暂存、延长停留时间、调整药剂投加或进入下一处理单元。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903049-4A25-432D-8FCE-734F1DF7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30368"/>
            <a:ext cx="65379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循环为软传感和多智能体诊断争取时间，反过来让低成本部署更可行。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3761A4-445C-4AAA-9208-2E803939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EA7303-045C-4FF9-A158-C5AADA9B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58DCD5-8235-4A58-9E3A-377BB3EA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900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D1FBB-A903-4070-906D-99539325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D36B6-74C5-4ABD-9D96-FDFC045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D3FE9-33A7-42DB-B42A-5B29CCE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54D8-5FE1-4782-A80C-FE4F5EBF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33 个 agent 形成执行链与整理展示交付层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5332D-4DEC-4385-95C4-786244FA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28 个执行 agent 负责闭环运行，5 个综合/接口/整理/展示 agent 负责对外表达、正式 deck 和实证入口。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E75AA-839E-4C9B-86B7-9DBBDDD3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91056"/>
            <a:ext cx="102412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D79FB-C98A-4A36-8E28-74F7CE3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91056"/>
            <a:ext cx="64008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579A9-BFE9-44A3-90EC-72F4500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00784"/>
            <a:ext cx="9948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1-2 感知与软传感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37F51-21AA-4520-9279-60C39E45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02536"/>
            <a:ext cx="9948672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数据质控、隐藏状态估计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E0CD9-B0A3-4365-9872-9D1673CE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76856"/>
            <a:ext cx="102412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6DBB4-5916-4222-86FA-D4FF6B82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76856"/>
            <a:ext cx="64008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9971D-3462-40AB-B55F-2FED0CDA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86584"/>
            <a:ext cx="9948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3-4 机理与故障诊断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FFBA4-6AE5-42C3-838A-599E9C5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88336"/>
            <a:ext cx="9948672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机制解释、故障模式识别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67D8E-B88A-4551-B212-8EE43A61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62656"/>
            <a:ext cx="102412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E050B-0351-4AA2-8FC3-61291969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62656"/>
            <a:ext cx="64008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0EFF1-E77F-44F3-9CF6-198C97F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72384"/>
            <a:ext cx="9948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5-10 控制与仲裁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F8AC0-D51B-477C-937F-91D49D8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374136"/>
            <a:ext cx="9948672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动作生成、成本安全、最终决策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DABF3-21FA-4168-9586-3625715E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48456"/>
            <a:ext cx="102412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8C8B7-A586-41AB-B8ED-174FDC1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48456"/>
            <a:ext cx="64008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33A43-E465-4349-B70F-57C45E8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58184"/>
            <a:ext cx="9948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11-18 传感/调度/资源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E1BCF-EF3F-414E-9709-15F7BA4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59936"/>
            <a:ext cx="9948672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敏感性、队列、扩容、经济性、实施压力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F7A68-9EF0-4B1E-8331-54D282AC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34256"/>
            <a:ext cx="102412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8E0BF-B7EE-4A56-B1FF-AFEC222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34256"/>
            <a:ext cx="64008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43167-5DE4-49C6-852D-97B1971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43984"/>
            <a:ext cx="9948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19-28 在线重规划与恢复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555FB-815C-4E55-A620-B40E57C6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45736"/>
            <a:ext cx="9948672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遥测、重规划、回放、恢复控制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D3FFE-CACD-4C7F-BCC2-95A3AF2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0056"/>
            <a:ext cx="102412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26A54-886C-4056-AD0A-F3972D28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0056"/>
            <a:ext cx="64008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7E40E-06A1-4F97-8D43-171DB1FA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129784"/>
            <a:ext cx="9948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29-32 综合/接口/整理/展示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15367-4F68-489B-96F7-1BAFC65F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431536"/>
            <a:ext cx="9948672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项目总览、真实数据接口、成果包、正式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08870-9BCD-41FC-AF0A-80D0BF6F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76656"/>
            <a:ext cx="1481328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0B764D-76BA-4ECC-B80D-8A885F66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768096"/>
            <a:ext cx="1243584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94FA20-3A37-4C01-9D69-4EA7167C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1088136"/>
            <a:ext cx="124358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agent 总数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2DA360-C74C-4619-9941-B7B54B4D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76656"/>
            <a:ext cx="1481328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976C20-8ACF-4ED2-8F3F-5FF5E09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768096"/>
            <a:ext cx="1243584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31/31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E2A84D-5D1E-49BF-879E-94BB947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1088136"/>
            <a:ext cx="124358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成果索引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377748-2479-4A14-9B43-476427E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75E639-4A54-441E-84D7-F263812F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4B2C5D-7A5D-42F4-865D-32779490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4029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822C9-17A8-48AE-BC6F-088FA08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8D8FF-631D-4164-B7F9-13F550B2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CE962-1D1D-4C59-B1E6-0152D27A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关键证据链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9B077-8E45-4D68-84D5-85908F4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从多批次瓶颈到自动重规划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E1108-95D2-4084-9FCA-26F400DC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单批次成功不等于 campaign 可执行，瓶颈必须能转成资源和项目动作。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0EB65-A8D9-429E-88D7-511ACFE9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1783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5C21A-E938-4200-A8E2-E89C95D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A800F-1D68-4F4D-B1BB-B48C65A2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08"/>
            <a:ext cx="14904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瓶颈暴露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F9286-E53D-4D61-B665-9658F06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149047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验证工时 / 时间 / 催化剂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464FA-F346-44F7-B410-5285188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2505456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14B6F-0C45-45E5-8EF2-76BF157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011680"/>
            <a:ext cx="1783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50B77-2681-49E9-BF8E-405900C2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0116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4A352-097B-4090-965E-7334E767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21408"/>
            <a:ext cx="14904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资源扩容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79207-DAC3-4504-A679-F9A3278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23160"/>
            <a:ext cx="149047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班次 / 备件 / 氧化剂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F8E22-B592-4964-B29C-0EFA1BA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505456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925B5-995A-4546-8135-46E01E8C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011680"/>
            <a:ext cx="1783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E5BA3-66AC-4542-9227-DE552546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0116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F3AC2-1262-4F58-BCD3-890F6F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121408"/>
            <a:ext cx="14904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长期经济性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17212-B77F-46AF-B53F-E62CF5BF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23160"/>
            <a:ext cx="149047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预算 / 提前期 / 服务水平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43D4A-90EE-459F-BD0D-95005997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505456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AA007-9BBC-4A69-9A35-89118928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011680"/>
            <a:ext cx="1783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0C8F0-28A5-4A9C-820F-8EC7C51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0116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0FFDA-B240-4E9D-B159-703DA805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21408"/>
            <a:ext cx="14904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压力测试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0E08C-F390-48C0-A55A-42037B64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23160"/>
            <a:ext cx="149047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供应延迟 / 预算慢批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A2D3F-27A5-47E1-8EFD-29A9436C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505456"/>
            <a:ext cx="32918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3758B-E29E-4906-8183-556FB97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011680"/>
            <a:ext cx="1783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8134C-7575-46A6-9609-E8688D00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0116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D05BE-5FF6-4756-946D-5DED92EE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121408"/>
            <a:ext cx="14904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在线重规划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646EE-287C-4C0D-A883-4608C12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423160"/>
            <a:ext cx="149047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写回基线并回放验证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965A4-586D-4BBD-BED9-C8360BD7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480060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BF6C9E-510E-48AF-8DB0-EE59D56A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64008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18F08-9F5C-448E-A329-7C4D8AE6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361688"/>
            <a:ext cx="45079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工程含义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047141-4C00-411B-8779-8429A01F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63440"/>
            <a:ext cx="450799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黑箱治理不是只训练一个预测模型，而是让预测、解释、资源约束和控制动作形成可回放链条。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49F4E6-720E-4C51-AAA2-71E3421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51960"/>
            <a:ext cx="480060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9DD576-53F9-4224-A37A-77820227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51960"/>
            <a:ext cx="64008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801BAF-CA4F-4CE0-BBE4-711B069F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361688"/>
            <a:ext cx="45079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E5E93-9CD3-48B9-869E-44B324AF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663440"/>
            <a:ext cx="450799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重规划后可维持条件恢复，但必须保留 campaign 后复核和失败回退线。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CE9C7D-9676-4142-B1FF-AD292AFE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42ACEA-9481-4DB3-B607-42998AC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E9C15D-5923-412F-9535-40BFB583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6489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C4534D-D5F2-437E-BD15-6E46A966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B33FE-26FC-4C18-B9AB-12E2537B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7ABA4-2E03-4752-80BA-6A41DE1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恢复控制边界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7908F-D09C-41F7-8010-9D17FA9D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0.75 是条件恢复，0.60 是失败回退线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B48C9-7829-4EAF-9A6C-B6B74ABD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这页防止把阶段性恢复误读成永久满负荷运行。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E84D7-EA4A-4DBD-95FD-077935E0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45720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230A2-BBD2-4BFC-81FD-23B4773B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57984"/>
            <a:ext cx="39319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D50E1-3B48-46F7-A1D9-3BF7830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999232"/>
            <a:ext cx="39319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下一轮条件恢复进水比例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7A12D-4C8C-4487-8B98-DC880056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45720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ACE66-A806-408D-91E9-9C1FF455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57984"/>
            <a:ext cx="39319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0.60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1082A-DCC3-41D8-AD4C-9890A428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999232"/>
            <a:ext cx="39319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失败或瓶颈触发时回退比例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FDCF8-6524-47B1-93B2-EF50ED55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31546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2B9A-E08C-466F-A36F-A06282C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6400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20C80-BB1A-4A0B-8AD7-EBAFDFA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681728"/>
            <a:ext cx="28620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维持条件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57E28-56A6-4D5A-97B6-28B4F814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983480"/>
            <a:ext cx="2862072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稳定且无时间/验证/库存瓶颈。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C4186-6046-491B-A38B-597D1AD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72000"/>
            <a:ext cx="31546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0E02D-D73E-4E62-8272-BA821A1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72000"/>
            <a:ext cx="6400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075EB-87CE-4577-AC64-FF7C09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681728"/>
            <a:ext cx="28620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复核窗口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78A13-68F9-43C0-9368-63B1FD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983480"/>
            <a:ext cx="2862072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每个 campaign 后重新检查。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12A94-7AC6-4ED7-A5F7-50A9D008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572000"/>
            <a:ext cx="31546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C9F57-238D-49E3-B150-026C12F2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572000"/>
            <a:ext cx="6400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F5773-51B0-4803-A6A4-D944D72E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681728"/>
            <a:ext cx="28620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回退动作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9444F-2995-41B0-8ED3-BF84A831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983480"/>
            <a:ext cx="2862072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触发重规划链并恢复保护模式。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061B1-C476-4A7A-835B-453CD23B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95A84-ADF3-4002-AFF5-D805C08D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2E5DD-3456-45FE-A3B3-1606097E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34957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C8D0D-A5C0-4135-9E58-FE8DCF1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DA3F-CB47-4156-8247-9E0312D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8C284-0238-4C75-B009-F8C493D3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真实数据接口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1EDE4-F15F-4189-B933-6095B19E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五张表连接现场和模型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F4D8-AAC8-487E-ADF7-6CA0091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 batch_id 对齐在线传感、离线标签、催化剂、操作日志和成本部署数据。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C3F34-2D3D-4A40-994D-0DC3C444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1920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7E26B-E957-4B49-A7CD-DF76F1B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212848"/>
            <a:ext cx="15544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batch_id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65253-A5F2-447A-9521-95E1299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8346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B6359-5A2C-4B3B-975B-9003CE2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64008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9F0B3-9025-4BC0-A152-2856A100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09928"/>
            <a:ext cx="25420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sensor_timeseries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E2F72-2968-452E-9EF3-60B7C72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11680"/>
            <a:ext cx="254203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在线传感时间序列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8B933-222B-45C2-B229-040AAC02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28346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C3A5C-4E40-419B-9EF4-8312798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64008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7B58D-9B42-4DCC-85F5-1B96BFB4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50208"/>
            <a:ext cx="25420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offline_lab_results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E0293-9FE7-4149-91D9-9BF3B2D1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51960"/>
            <a:ext cx="254203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离线检测标签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6C7AF-2B8F-4FFC-922C-27C0EF3F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526280"/>
            <a:ext cx="28346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B68F9-C35A-4732-8D58-AB0E3B16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526280"/>
            <a:ext cx="64008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1D6A2-EEAE-42FF-8660-D449273D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636008"/>
            <a:ext cx="25420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catalyst_lifecycle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E4E8A-22D5-4F94-BEFE-45ADBF3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937760"/>
            <a:ext cx="254203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活性/再生/寿命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FE00A-B336-4466-984F-DA248F2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840480"/>
            <a:ext cx="28346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531AC-D87C-4C1A-B542-DBF5E7B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840480"/>
            <a:ext cx="64008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A8062-EF0A-4AB9-BAF0-3CA30F2E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3950208"/>
            <a:ext cx="25420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campaign_operation_log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72DAD-21F7-4413-B054-5FFF22F0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251960"/>
            <a:ext cx="254203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动作开始/结束/回退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540BE-F151-4667-9312-B37050B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600200"/>
            <a:ext cx="28346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C9160-D973-43D8-99C6-E4B65AE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600200"/>
            <a:ext cx="64008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4B7E7-B31C-4D13-AE32-F0FCB75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1709928"/>
            <a:ext cx="25420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cost_deployment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AD75F-B402-4DDA-B4EF-D791536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011680"/>
            <a:ext cx="2542032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报价/人工/接口成本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09F3A-178A-44BD-8ED0-FE35E5E3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440680"/>
            <a:ext cx="61722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5A44A-8F14-4966-BA4B-DFBC00AF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440680"/>
            <a:ext cx="640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EE808-A961-4D7F-9214-D719591B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5550408"/>
            <a:ext cx="58795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校准对象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EFBF2-0AAC-463F-80FE-8249E9A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5852160"/>
            <a:ext cx="5879592" cy="-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软传感器、传感漂移、时间预算、催化剂寿命、副产物风险、部署成本。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74CD98-DAE8-4C96-A106-BE04B29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CF702-0D8B-4CC3-B407-FBEFA2A0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F0CC8-47DF-40BF-9F3B-B49EE2FD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08581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BEAFA-2C7F-467A-A54E-42CA0D5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4284A-0501-48A2-B8FC-D4E3BC6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3749E-02E2-46CB-B659-6A6CDC1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2743C-015C-4BE4-B953-8C690CAC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这是研究平台，不是现场自治结论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91753-24A0-402B-95F6-95B15336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synthetic/sample 数据只能证明接口和仿真链条可运行，不能替代现场验证。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7D37E-0F4B-4116-9A99-4CB4BEA9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38328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F9AB1-34AE-41A5-9174-459E95B4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4008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7ACD7-D028-49F7-BB98-306382AD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38528"/>
            <a:ext cx="3090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现在可以说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C468E-517B-4BFD-8A7C-8813036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40280"/>
            <a:ext cx="3090672" cy="1865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系统链条完整；可用于项目书、原型展示和实证前仿真基线；成果包 31/31 可用。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A76AA-A998-4E6C-A922-2BF6BBC8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828800"/>
            <a:ext cx="338328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19064-D9C1-4482-8BF3-C6C4BC04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828800"/>
            <a:ext cx="64008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6EABF-2051-4C4E-9B0B-88DF42F4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38528"/>
            <a:ext cx="3090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不能这样说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AE034-4A44-4CF1-9ACB-F831D8D4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0280"/>
            <a:ext cx="3090672" cy="1865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不能说已经完成现场自治；不能把 synthetic/sample 结果当作真实达标率；不能说 0.75 是永久满负荷。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0539E-6D9A-4E5B-90EA-785AE000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38328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2CE3F-6FFE-430F-86C0-4A4360EA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64008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77EBB-DE3C-4817-8902-E8932E04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38528"/>
            <a:ext cx="309067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必须继续校准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0AED5-9BE6-4B44-87DC-B3413778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40280"/>
            <a:ext cx="3090672" cy="1865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传感漂移、软传感标签、催化剂寿命、副产物风险、时间预算、部署接口。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2A1A3-D98C-49A3-807F-39C03882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2040"/>
            <a:ext cx="99669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正式汇报中，边界说明不是削弱方案，而是让方案更像重大项目研究计划。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49608-C467-433A-B9A9-13824DD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8B97A-B6AF-4038-8B20-B1FC3878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19927-460D-4752-9CDD-0B633F9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94598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A59C7C-18FA-472C-AEC1-8A505F22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8E42F-13DC-41BC-A7E2-76C3380F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FA6C9-07B6-4273-ACD1-B6DF6F0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01168"/>
            <a:ext cx="2377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B3F66-71EF-4B60-B785-E73E5AED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0352"/>
            <a:ext cx="7040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476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真实数据导入与参数校准路线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24879-07A7-40E5-8C84-C3F85DA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6309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下一步不再增加概念，而是把现场数据接入、校准并回放。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CDA43-0318-4CD9-A561-287EE06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241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CE8E-8401-412A-9597-82BACFE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139696"/>
            <a:ext cx="80467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4FF44-EDD8-4A11-BFEF-A1332B7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97480"/>
            <a:ext cx="1828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0563E-5797-4E56-AA85-D7E5EEAB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974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E56D8-ECA3-4F0C-9684-7B85F140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807208"/>
            <a:ext cx="15361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传感器噪声与漂移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1D5C8-D629-4707-8268-D7D64662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108960"/>
            <a:ext cx="153619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原始时间序列 / 清洗校准记录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E922F-EE09-4373-9580-897AB7FB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011680"/>
            <a:ext cx="10241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E4A24-9B01-44A1-B6DC-D300CCB7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139696"/>
            <a:ext cx="80467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BAC95-6594-4A1F-92D9-702660E3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697480"/>
            <a:ext cx="1828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FFB48-CBED-49D3-9CEE-8464B699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6974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CF199-5305-4A41-AEDC-B8432DB1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807208"/>
            <a:ext cx="15361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软传感真实标签重训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D5765-CC5C-4C0A-B988-0401429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108960"/>
            <a:ext cx="153619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离线检测标签与传感窗口对齐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6FAEF-3992-4648-96EE-90021448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11680"/>
            <a:ext cx="10241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19F02-6FF7-41F0-9701-785D362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139696"/>
            <a:ext cx="80467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33EDC-DA6A-4448-9543-F1F3DC0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97480"/>
            <a:ext cx="1828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0234C-48E2-4377-A119-E0B4324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974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9B2B2-463D-4C56-A6F4-929C102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807208"/>
            <a:ext cx="15361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催化剂寿命与副产物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B3AF1-685D-43E7-9B88-3269374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108960"/>
            <a:ext cx="153619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活性、压降、再生、风险记录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B4B03-B98D-42FC-8D8C-44FB2699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1680"/>
            <a:ext cx="10241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E064-8C49-4DBA-B568-37D5B4B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139696"/>
            <a:ext cx="80467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0946D-89A8-45A0-80AB-B193B63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7480"/>
            <a:ext cx="1828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D0716-300E-4D90-8EB6-E1B7016E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74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D87649-EB5E-4F56-BED9-7FFEADA7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807208"/>
            <a:ext cx="15361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循环时间预算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10007-225C-4822-A2A2-58FC68AA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108960"/>
            <a:ext cx="153619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动作开始/结束与回退阈值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A4683-EADD-43F4-A7ED-19C48E37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11680"/>
            <a:ext cx="10241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2A532-DA89-43E6-893A-C3C7166B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139696"/>
            <a:ext cx="80467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1D544-9B4B-4CAE-858E-036F8EDE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697480"/>
            <a:ext cx="1828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285B9-CAEC-46AA-A33A-3E6CE15C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69748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A0E20E-2762-4152-82C4-E440E4C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2807208"/>
            <a:ext cx="15361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成本与部署接口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C76AF9-7B57-43AD-89CE-527D4F3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3108960"/>
            <a:ext cx="153619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报价、人工、PLC/SCADA 点表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9EA09C-5AF6-488D-BB5F-2BDD532E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3327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9E4632-6A08-4037-8109-4665A069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6400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CA5DFC-3E44-43E9-B662-58A6D3F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864608"/>
            <a:ext cx="1004011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交付判断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61BBC4-55CF-4C44-97E2-5A713D70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166360"/>
            <a:ext cx="1004011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191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P1-P5 后，再更新软传感器、控制阈值、成本收益和恢复边界；届时才能把研究平台推进到现场试点口径。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7F0E6E-AD05-49F6-BA2E-F4FD5DE8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1099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D0B359-9694-43FA-AA32-EA1DA03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96926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synthetic/sample 数据仅用于接口与仿真验证 | 33 agents | 31/31 artifacts | 136 passed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BF9A99-5FA4-4907-9325-F2C3249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92240"/>
            <a:ext cx="5486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4793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2026-05-31T14:42:48.4880000Z</dcterms:created>
  <dcterms:modified xsi:type="dcterms:W3CDTF">2026-05-31T14:42:48.4880000Z</dcterms:modified>
</coreProperties>
</file>